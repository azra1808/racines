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8e54d487914d9a" /><Relationship Type="http://schemas.openxmlformats.org/officeDocument/2006/relationships/extended-properties" Target="/docProps/app.xml" Id="Rd74b09d4b2f349a5" /><Relationship Type="http://schemas.openxmlformats.org/officeDocument/2006/relationships/officeDocument" Target="/ppt/presentation.xml" Id="R372933f58fe048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7c0b56c5de474a"/>
  </p:sldMasterIdLst>
  <p:notesMasterIdLst>
    <p:notesMasterId xmlns:r="http://schemas.openxmlformats.org/officeDocument/2006/relationships" r:id="R0d63b0aaf4eb4f95"/>
  </p:notesMasterIdLst>
  <p:sldIdLst>
    <p:sldId xmlns:r="http://schemas.openxmlformats.org/officeDocument/2006/relationships" id="256" r:id="R0dd67e946add4e61"/>
    <p:sldId xmlns:r="http://schemas.openxmlformats.org/officeDocument/2006/relationships" id="257" r:id="R1d87edb82c64498a"/>
    <p:sldId xmlns:r="http://schemas.openxmlformats.org/officeDocument/2006/relationships" id="258" r:id="R22e1206b66d3401b"/>
    <p:sldId xmlns:r="http://schemas.openxmlformats.org/officeDocument/2006/relationships" id="259" r:id="R6dfb400e11bc4ec5"/>
    <p:sldId xmlns:r="http://schemas.openxmlformats.org/officeDocument/2006/relationships" id="260" r:id="R2fed3430496e4fb4"/>
    <p:sldId xmlns:r="http://schemas.openxmlformats.org/officeDocument/2006/relationships" id="261" r:id="R7d4bf2d9de9348ee"/>
    <p:sldId xmlns:r="http://schemas.openxmlformats.org/officeDocument/2006/relationships" id="262" r:id="R0271a82826794ca0"/>
    <p:sldId xmlns:r="http://schemas.openxmlformats.org/officeDocument/2006/relationships" id="263" r:id="R0ef33159ae1942ff"/>
    <p:sldId xmlns:r="http://schemas.openxmlformats.org/officeDocument/2006/relationships" id="264" r:id="R7c655050ff534dd3"/>
    <p:sldId xmlns:r="http://schemas.openxmlformats.org/officeDocument/2006/relationships" id="265" r:id="R758f5fb96fc94f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a59cc971de4131" /><Relationship Type="http://schemas.openxmlformats.org/officeDocument/2006/relationships/slideMaster" Target="/ppt/slideMasters/slideMaster1.xml" Id="Rbb7c0b56c5de474a" /><Relationship Type="http://schemas.openxmlformats.org/officeDocument/2006/relationships/notesMaster" Target="/ppt/notesMasters/notesMaster1.xml" Id="R0d63b0aaf4eb4f95" /><Relationship Type="http://schemas.openxmlformats.org/officeDocument/2006/relationships/presProps" Target="/ppt/presProps.xml" Id="Rac6e2c3479da4ce5" /><Relationship Type="http://schemas.openxmlformats.org/officeDocument/2006/relationships/tableStyles" Target="/ppt/tableStyles.xml" Id="Rb4bd9664f9824c2c" /><Relationship Type="http://schemas.openxmlformats.org/officeDocument/2006/relationships/slide" Target="/ppt/slides/slide1.xml" Id="R0dd67e946add4e61" /><Relationship Type="http://schemas.openxmlformats.org/officeDocument/2006/relationships/slide" Target="/ppt/slides/slide2.xml" Id="R1d87edb82c64498a" /><Relationship Type="http://schemas.openxmlformats.org/officeDocument/2006/relationships/slide" Target="/ppt/slides/slide3.xml" Id="R22e1206b66d3401b" /><Relationship Type="http://schemas.openxmlformats.org/officeDocument/2006/relationships/slide" Target="/ppt/slides/slide4.xml" Id="R6dfb400e11bc4ec5" /><Relationship Type="http://schemas.openxmlformats.org/officeDocument/2006/relationships/slide" Target="/ppt/slides/slide5.xml" Id="R2fed3430496e4fb4" /><Relationship Type="http://schemas.openxmlformats.org/officeDocument/2006/relationships/slide" Target="/ppt/slides/slide6.xml" Id="R7d4bf2d9de9348ee" /><Relationship Type="http://schemas.openxmlformats.org/officeDocument/2006/relationships/slide" Target="/ppt/slides/slide7.xml" Id="R0271a82826794ca0" /><Relationship Type="http://schemas.openxmlformats.org/officeDocument/2006/relationships/slide" Target="/ppt/slides/slide8.xml" Id="R0ef33159ae1942ff" /><Relationship Type="http://schemas.openxmlformats.org/officeDocument/2006/relationships/slide" Target="/ppt/slides/slide9.xml" Id="R7c655050ff534dd3" /><Relationship Type="http://schemas.openxmlformats.org/officeDocument/2006/relationships/slide" Target="/ppt/slides/slide10.xml" Id="R758f5fb96fc94f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e192e172e44a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4e114fc6cf4eb6" /><Relationship Type="http://schemas.openxmlformats.org/officeDocument/2006/relationships/notesMaster" Target="/ppt/notesMasters/notesMaster1.xml" Id="R88cd7ef56fdb43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de75f4b0d944ea" /><Relationship Type="http://schemas.openxmlformats.org/officeDocument/2006/relationships/notesMaster" Target="/ppt/notesMasters/notesMaster1.xml" Id="R30bc28b5b2e84f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5691f76ab8428a" /><Relationship Type="http://schemas.openxmlformats.org/officeDocument/2006/relationships/notesMaster" Target="/ppt/notesMasters/notesMaster1.xml" Id="R2dcae38c72794d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18bff8b0aa4c16" /><Relationship Type="http://schemas.openxmlformats.org/officeDocument/2006/relationships/notesMaster" Target="/ppt/notesMasters/notesMaster1.xml" Id="R241a79e5c86c4f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42ef6a3a3848e7" /><Relationship Type="http://schemas.openxmlformats.org/officeDocument/2006/relationships/notesMaster" Target="/ppt/notesMasters/notesMaster1.xml" Id="Rcd3602fdeb8c4e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6b06b1f77b42f3" /><Relationship Type="http://schemas.openxmlformats.org/officeDocument/2006/relationships/notesMaster" Target="/ppt/notesMasters/notesMaster1.xml" Id="R9ff618de2fff48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725f92acaa493a" /><Relationship Type="http://schemas.openxmlformats.org/officeDocument/2006/relationships/notesMaster" Target="/ppt/notesMasters/notesMaster1.xml" Id="R70983ca3afef4e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a5179af51e46b7" /><Relationship Type="http://schemas.openxmlformats.org/officeDocument/2006/relationships/notesMaster" Target="/ppt/notesMasters/notesMaster1.xml" Id="Rc9a334cdd50040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473e3442b64d1b" /><Relationship Type="http://schemas.openxmlformats.org/officeDocument/2006/relationships/notesMaster" Target="/ppt/notesMasters/notesMaster1.xml" Id="R2aebe6d1e30b41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68c6a4ec064af3" /><Relationship Type="http://schemas.openxmlformats.org/officeDocument/2006/relationships/notesMaster" Target="/ppt/notesMasters/notesMaster1.xml" Id="Rbae8ac5e1ef342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interne : README RACINES et dépôt local, inspectés le 24 août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interne : README RACINES, vision produit et modules locaux.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interne : code mobile local — `src/data/modules.js`, `ModuleScreen.js`, `QuizScreen.js`, `LuluScreen.js`.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interne : flux de navigation dans `mobile/App.js` et écrans de l’application.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interne : `mobile/src/data/db.js` et modules locaux.</a:t>
            </a:r>
          </a:p>
          <a:p xmlns:a="http://schemas.openxmlformats.org/drawingml/2006/main">
            <a:r>
              <a:t>Source technique : Expo SQLite SDK 57 — https://docs.expo.dev/versions/v57.0.0/sdk/sqlite/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interne : `mobile/src/data/luluResponses.js` et documentation E4 `UX_ACCESSIBILITY_DECISIONS.md`.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interne : modifications d’accessibilité dans les écrans mobile et `e4/QA_TEST_PLAN.md`.</a:t>
            </a:r>
          </a:p>
          <a:p xmlns:a="http://schemas.openxmlformats.org/drawingml/2006/main">
            <a:r>
              <a:t>Source technique : React Native Accessibility — https://reactnative.dev/docs/accessibility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interne : `dashboard/index.html`, `dashboard/app.js` et `dashboard/README.md`. Toutes les données du tableau sont synthétiques.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interne : `e4/QA_TEST_PLAN.md`, `e4/UX_ACCESSIBILITY_DECISIONS.md` et `e4/VIDEO_STORYBOARD.md`.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interne : priorités E4 et limites produit documentées dans `e4/README.md`.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894a19b7340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7cdfe4ca984c99" /><Relationship Type="http://schemas.openxmlformats.org/officeDocument/2006/relationships/slideLayout" Target="/ppt/slideLayouts/slideLayout1.xml" Id="R70bf2cea9d9541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bf2cea9d9541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a23f1f33b49a9" /><Relationship Type="http://schemas.openxmlformats.org/officeDocument/2006/relationships/notesSlide" Target="/ppt/notesSlides/notesSlide1.xml" Id="Rb1dd5a84152743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ed9f243ae4792" /><Relationship Type="http://schemas.openxmlformats.org/officeDocument/2006/relationships/notesSlide" Target="/ppt/notesSlides/notesSlide2.xml" Id="Rfd4c758a844c4a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e7430b9284e18" /><Relationship Type="http://schemas.openxmlformats.org/officeDocument/2006/relationships/notesSlide" Target="/ppt/notesSlides/notesSlide3.xml" Id="Ra9426c89f42c43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22fd93cce45da" /><Relationship Type="http://schemas.openxmlformats.org/officeDocument/2006/relationships/notesSlide" Target="/ppt/notesSlides/notesSlide4.xml" Id="R1f9953ed677641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0559b93f146fe" /><Relationship Type="http://schemas.openxmlformats.org/officeDocument/2006/relationships/notesSlide" Target="/ppt/notesSlides/notesSlide5.xml" Id="Rab874ff7638040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4f298cb7c4af3" /><Relationship Type="http://schemas.openxmlformats.org/officeDocument/2006/relationships/notesSlide" Target="/ppt/notesSlides/notesSlide6.xml" Id="Ra58346b6f23341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89f8a41154cb6" /><Relationship Type="http://schemas.openxmlformats.org/officeDocument/2006/relationships/notesSlide" Target="/ppt/notesSlides/notesSlide7.xml" Id="Re3fbe87356f04d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4b3d8fc2a4e82" /><Relationship Type="http://schemas.openxmlformats.org/officeDocument/2006/relationships/notesSlide" Target="/ppt/notesSlides/notesSlide8.xml" Id="R181ada073de743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9396398154cbd" /><Relationship Type="http://schemas.openxmlformats.org/officeDocument/2006/relationships/notesSlide" Target="/ppt/notesSlides/notesSlide9.xml" Id="R1d8937f8179c47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7c7b6409a4bb6" /><Relationship Type="http://schemas.openxmlformats.org/officeDocument/2006/relationships/notesSlide" Target="/ppt/notesSlides/notesSlide10.xml" Id="Rc6fb158fb7c848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54D5C-C9E1-4130-BFE0-25D1CEE9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RACINES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DA69F-8096-4083-93C7-4AAE23FF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A45"/>
          </a:solidFill>
          <a:ln xmlns:a="http://schemas.openxmlformats.org/drawingml/2006/main" w="9525">
            <a:solidFill>
              <a:srgbClr val="1F5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D8F58-824F-4EAF-A1C6-CC63969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Le bon conseil,</a:t>
            </a:r>
          </a:p>
          <a:p xmlns:a="http://schemas.openxmlformats.org/drawingml/2006/main">
            <a:pPr>
              <a:defRPr sz="45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au bon moment.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E2A2C-25D4-412A-B109-482742F7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Une expérience parentale accessible, hors connexion et conçue pour inspirer confiance.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8C860-FEF1-458F-BAB3-7FB05920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E4 · DESIGN · QUALITÉ · COMMUNICATION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5948B-F86D-4F34-8A2F-FAB15ABB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530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POUR UN PILOTE MESURÉ, SÛR ET UTILE</a:t>
            </a:r>
          </a:p>
        </p:txBody>
      </p:sp>
    </p:spTree>
    <p:extLst>
      <p:ext uri="{BB962C8B-B14F-4D97-AF65-F5344CB8AC3E}">
        <p14:creationId xmlns:p14="http://schemas.microsoft.com/office/powerpoint/2010/main" val="1787090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2218A-2ABE-447C-A4BE-D6F2381D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LE POINT DE DÉPART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E8150-DD47-4093-B494-828DAB11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13B01-88A7-41A0-B6A3-A15DE024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6BE60-8C5E-4C8C-A711-F07C80CE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Une question parentale ne devrait pas attendre le bon réseau.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B98DC-81CD-4920-A5FA-F8442E5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Le besoin n’est pas une application de plus : c’est un accès simple à un conseil fiable, au moment où il compte.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13931-16F9-40BC-971C-37253335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5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04D5B-3177-4FBD-8BB2-66C934C6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01 · DISPONIBILITÉ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EF430-6EFB-4C52-AA4E-95936901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La réponse doit rester accessible.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11356-3CA2-4A43-BC58-6F317FD1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Les contenus essentiels sont pensés pour être relus, réécoutés et retrouvés sans navigation complexe.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89983-6121-4CDC-8448-7EB7AB6D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146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02 · COMPRÉHENSION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4F807-FE94-4548-A8B3-F897DF4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433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La forme compte autant que le fond.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84D0E-FCD5-4366-B993-B6D68948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91075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Des modules courts, une lecture audio et un quiz ramènent l’attention vers l’essentiel.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C15AA-3828-446E-8263-6917DAC6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146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9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69237"/>
                </a:solidFill>
                <a:latin typeface="Helvetica Neue"/>
                <a:ea typeface="Helvetica Neue"/>
                <a:cs typeface="Helvetica Neue"/>
              </a:rPr>
              <a:t>03 · CONFIANCE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E442F-E5EA-405B-8FA2-D8A92DDA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Le produit doit savoir orienter.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D6DF6-E4D8-4085-9E93-1E359DC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91075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Lulu guide vers le contenu ; il ne remplace ni un professionnel ni un service d’urgence.</a:t>
            </a:r>
          </a:p>
        </p:txBody>
      </p:sp>
    </p:spTree>
    <p:extLst>
      <p:ext uri="{BB962C8B-B14F-4D97-AF65-F5344CB8AC3E}">
        <p14:creationId xmlns:p14="http://schemas.microsoft.com/office/powerpoint/2010/main" val="738147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B6F61-D557-41F6-AC5F-A87600B0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LA RÉPONSE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236C8-871C-4FEA-9EF2-366585F9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4007D-E8F5-405D-BBFE-6727B7B9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DA5DD-F9F3-49F1-9453-513E79BD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RACINES transforme un guide en parcours de confiance.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E0EF6-F0F3-4C85-842D-4E6CF92D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Un seul service, quatre leviers concrets pour apprendre et agir.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250A1-29F6-4FBE-9DF8-5E72757D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4003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EF"/>
          </a:solidFill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8AD93-5CCC-49F8-969F-149B546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DB1BD-EB06-4C1C-BF73-C9D08D29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8 modules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AD091-01F4-47F5-BE6A-39FD5C72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Des thèmes parentaux structurés dans l’application.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601F3-136A-4F80-94D4-468D8016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4003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EF"/>
          </a:solidFill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3EF4E-1671-4A1A-95D8-D7DA937E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71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ED445-D2EC-48BF-81F1-8938A4E9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5762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Lire ou écouter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72172-4862-4FD7-B9E4-496248EC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6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Une lecture audio pour adapter l’expérience au contexte.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941ED-4BC1-4DDF-BF35-1F0BE608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4003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EF"/>
          </a:solidFill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506B7-D9FB-4D8A-BCC6-D8021F9F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9B55A-4B9B-4264-B530-37C80138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5762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Vérifier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2B083-D39D-4461-BD65-E05FB173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Un quiz donne un retour immédiat sur la compréhension.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15660-1F9F-4585-94DA-BEF4737C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24003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988E9-F50D-43D8-91A8-9B65435A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71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DF446-EED6-4987-9DDA-ACE237FC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5762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S’orienter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B1AB1-B69E-4E9F-BD82-EB8DB9F1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86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Lulu relie une question au module le plus pertinent.</a:t>
            </a:r>
          </a:p>
        </p:txBody>
      </p:sp>
    </p:spTree>
    <p:extLst>
      <p:ext uri="{BB962C8B-B14F-4D97-AF65-F5344CB8AC3E}">
        <p14:creationId xmlns:p14="http://schemas.microsoft.com/office/powerpoint/2010/main" val="20317668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AE043-F876-4816-B3D2-29E40AF4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LE PARCOURS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B7E49-6825-4455-B262-AD8E1F3B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3B006-B704-4C5A-B5A9-270EB952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20E5F-DAC2-4F08-A88F-9D910C8D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Le parcours réduit la friction, étape après étape.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0E128-7B5A-47A7-8B8B-9DCAF81F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La démonstration doit suivre exactement ce flux, sans raconter des fonctions qui ne sont pas disponibles.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D5416-2F94-43F1-9BE8-3CECA048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6A434-A58F-4C10-A1EF-C0978427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Découvrir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F9C4D-34E2-4123-912D-6E6BC2F4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Choisir un thème utile.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E4FF3-7905-474C-B48C-37C3572C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719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92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13EC7-C7C0-44A4-AF5B-642DDD3C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29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CC670-9BF9-44DD-A5AE-334BD95E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528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Comprendre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FBEC2-5E7E-45EC-A9F8-BB40D54F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59105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Lire ou écouter à son rythme.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08432-395B-401E-9250-27F10C9D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1719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923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0CDE5-1E3B-4C57-8DFF-C52D49B5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2E851-413B-494C-A177-BD767070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Retenir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51D33-B7FF-4D46-89DB-E1CCF9A5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Répondre et recevoir un retour.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60722-FB43-4A63-92B7-FA3AA8EA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92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25934-8CDB-4937-A62F-62B3BA07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29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FB5F5-E1DB-4E1C-9A25-90EDB75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528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Revenir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E25A87-D366-4AC5-809E-CE46AD27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9105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Conserver une progression locale.</a:t>
            </a:r>
          </a:p>
        </p:txBody>
      </p:sp>
    </p:spTree>
    <p:extLst>
      <p:ext uri="{BB962C8B-B14F-4D97-AF65-F5344CB8AC3E}">
        <p14:creationId xmlns:p14="http://schemas.microsoft.com/office/powerpoint/2010/main" val="2004329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711FC-0B20-4E1D-AF5F-60FEC132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LA CONDITION D’USAGE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8173C-70FA-46C0-B776-10BBEE5F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784E6-6385-4285-85E3-2398605A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95C1E-12A0-4BB2-841E-4FC10FBE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Hors connexion n’est pas un bonus : c’est une condition d’usage.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9B683-FE27-4260-9C89-8EEEBBA2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La version locale embarque les contenus et persiste la progression sur l’appareil.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2D00F-ECE6-48DD-AB7A-5CFD12CB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77B03-4255-4E2B-812B-B4F1A21A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CE QUI EST DÉMONTRABLE AUJOURD’HUI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63951-1AD8-4171-B644-2BCFCBBA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3825"/>
            <a:ext cx="423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Modules embarqués</a:t>
            </a:r>
          </a:p>
          <a:p xmlns:a="http://schemas.openxmlformats.org/drawingml/2006/main">
            <a:pPr>
              <a:defRPr sz="25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+ progression SQLite locale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57A8C-06B4-46E4-924F-12F8BABF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À montrer réellement en mode avion, sur une installation propre.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00326-D72E-43B0-962E-4C0D5708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9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9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69237"/>
                </a:solidFill>
                <a:latin typeface="Helvetica Neue"/>
                <a:ea typeface="Helvetica Neue"/>
                <a:cs typeface="Helvetica Neue"/>
              </a:rPr>
              <a:t>CE QUI RESTE À PROUVER PAR LE PILOTE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DBEE5-39A6-4939-9FC0-5BCA58E0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71925"/>
            <a:ext cx="428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Adoption réelle, canaux complémentaires et impact à mesurer.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1D946-03F0-441F-BC74-FD848ED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911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9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BF07C-02F6-4C5B-8ACC-0783270E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625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i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Aucune promesse ne doit remplacer une preuve.</a:t>
            </a:r>
          </a:p>
        </p:txBody>
      </p:sp>
    </p:spTree>
    <p:extLst>
      <p:ext uri="{BB962C8B-B14F-4D97-AF65-F5344CB8AC3E}">
        <p14:creationId xmlns:p14="http://schemas.microsoft.com/office/powerpoint/2010/main" val="974907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C57DB-66A6-481F-BAD8-4C7742D7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CONFIANCE ET SÉCURITÉ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A0CCF-A877-458D-B135-8CBF4FF9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58E3A-CCD5-4215-92DA-6F430624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9E411-40D1-44B2-AE40-5ACB6047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La sécurité commence par ce que Lulu ne fait pas.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13606-A040-4FAA-ADE7-DFF8A674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Un assistant d’orientation doit être utile sans se faire passer pour un professionnel.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EE6B1-BC08-4953-B358-BD6B78ED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6"/>
          </a:solidFill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38AB2-FD72-4A7D-BC5B-7703FCC1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A435F-0045-4D0E-8F9D-6275C5DA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LULU PEUT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A1508-C435-4087-9A32-C4B4954C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390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• orienter vers un module</a:t>
            </a:r>
          </a:p>
          <a:p xmlns:a="http://schemas.openxmlformats.org/drawingml/2006/main">
            <a:pPr>
              <a:defRPr sz="210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• expliquer sa limite</a:t>
            </a:r>
          </a:p>
          <a:p xmlns:a="http://schemas.openxmlformats.org/drawingml/2006/main">
            <a:pPr>
              <a:defRPr sz="210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• prioriser la sécurité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A0332-0C3B-44FC-A2F0-E60C7499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69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69237"/>
                </a:solidFill>
                <a:latin typeface="Helvetica Neue"/>
                <a:ea typeface="Helvetica Neue"/>
                <a:cs typeface="Helvetica Neue"/>
              </a:rPr>
              <a:t>LULU NE PEUT PAS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BF20B-6E97-46BC-B6C1-E8363D06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• diagnostiquer</a:t>
            </a:r>
          </a:p>
          <a:p xmlns:a="http://schemas.openxmlformats.org/drawingml/2006/main">
            <a:pPr>
              <a:defRPr sz="210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• prescrire</a:t>
            </a:r>
          </a:p>
          <a:p xmlns:a="http://schemas.openxmlformats.org/drawingml/2006/main">
            <a:pPr>
              <a:defRPr sz="210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• remplacer une aide d’urgence</a:t>
            </a:r>
          </a:p>
        </p:txBody>
      </p:sp>
    </p:spTree>
    <p:extLst>
      <p:ext uri="{BB962C8B-B14F-4D97-AF65-F5344CB8AC3E}">
        <p14:creationId xmlns:p14="http://schemas.microsoft.com/office/powerpoint/2010/main" val="1834880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396C8-9DA0-4DEC-BA3D-F60C0C55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INCLUSION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54B37-11E4-462C-AE05-3A7B7A3F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57EF7-7A19-4352-BDE8-E1ECA4D4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F7AE2-0373-492F-98D7-2D10B1FD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L’inclusion devient un critère de sortie, pas une finition.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0FEC1-70BB-422B-97FC-94988729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Les choix de design sont traduits en scénarios de recette sur appareils réels.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34B9A-4CA9-4F09-A621-369D285F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ACCÈS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E5564-A29F-4EB9-9C97-4BAD34D2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Un contraste élevé utilisable.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A2144-29C9-40E7-B127-FC19672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La lisibilité doit rester assurée sur chaque écran, pas seulement sur l’accueil.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464B6-3D2D-48C0-85A0-7776771F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146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COMPRÉHENSION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C820D-4237-4D99-874F-A9B593C0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433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Des actions nommées et annoncées.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3F78B-C6EB-4212-A7BD-E4A8F046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91075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Rôles, libellés, états de quiz et progression audio sont fournis au lecteur d’écran.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F386F-32EA-4CE7-A89C-C9C3652D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146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9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69237"/>
                </a:solidFill>
                <a:latin typeface="Helvetica Neue"/>
                <a:ea typeface="Helvetica Neue"/>
                <a:cs typeface="Helvetica Neue"/>
              </a:rPr>
              <a:t>PREUVE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89554-4EA5-4661-88DE-81BA1B80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Des tests qui restent à filmer.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8D9D0-9D6B-4010-A493-2EBC6E8D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91075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TalkBack/VoiceOver, taille de police, clavier et faible largeur sont dans le plan QA.</a:t>
            </a:r>
          </a:p>
        </p:txBody>
      </p:sp>
    </p:spTree>
    <p:extLst>
      <p:ext uri="{BB962C8B-B14F-4D97-AF65-F5344CB8AC3E}">
        <p14:creationId xmlns:p14="http://schemas.microsoft.com/office/powerpoint/2010/main" val="7655766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8529D-00CE-46C3-A075-8624572E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APPRENDRE AVEC LE TERRAIN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3F64D-6605-401C-B65D-59EEEC68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1056E-E29F-479D-9398-881B897A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C924A-9392-49AB-9CFB-26FE494B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Le tableau de bord garde le suivi humain.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26158-2492-40D0-B406-9155EE6A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La démo locale présente une future lecture opérationnelle sans simuler des résultats de terrain.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77D15-6A21-4C76-ABC6-1ACCF9D2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619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EF"/>
          </a:solidFill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09A7D-A99D-4975-9A93-F35787C0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POSTE FACILITATEUR · DONNÉES DE DÉMONSTRATION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C95F8-F123-407F-B470-234C8426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4333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Atteindre</a:t>
            </a:r>
          </a:p>
          <a:p xmlns:a="http://schemas.openxmlformats.org/drawingml/2006/main">
            <a:pPr>
              <a:defRPr sz="29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Apprendre</a:t>
            </a:r>
          </a:p>
          <a:p xmlns:a="http://schemas.openxmlformats.org/drawingml/2006/main">
            <a:pPr>
              <a:defRPr sz="29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Protéger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B69D5-086D-4650-8DA6-C4577397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4807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Une file de vigilance ouvre une conversation humaine.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F1B23-7C93-4255-8D78-20821EAB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33925"/>
            <a:ext cx="3571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Jamais une décision automatisée.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E1FAA-738F-44A6-9FED-B73B7AE1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72075"/>
            <a:ext cx="3571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Données synthétiques. Aucune donnée personnelle. Aucune promesse d’impact avant pilote.</a:t>
            </a:r>
          </a:p>
        </p:txBody>
      </p:sp>
    </p:spTree>
    <p:extLst>
      <p:ext uri="{BB962C8B-B14F-4D97-AF65-F5344CB8AC3E}">
        <p14:creationId xmlns:p14="http://schemas.microsoft.com/office/powerpoint/2010/main" val="1135934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6870E-D7CC-47D0-A7E0-610143B0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LE PLAN DE PREUVE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64CE5-D231-4B7E-9BC6-E242E474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9EABE-9ABD-429F-8F55-54A2C5F8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4E7B1-F009-493F-80D8-642DAF23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La prochaine preuve n’est pas un chiffre : c’est un pilote bien mené.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3DE92-1C13-40F1-AEEA-4731B8F2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Mesurer l’usage, l’apprentissage et la sécurité avant de revendiquer l’impact.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1D778-D54C-4E7C-AD02-3AC5300A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5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F64AC-2BB7-449A-B499-85A7F965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67454-AC6A-474D-85F0-BFCA9659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Préparer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34CB8-EE15-4E6E-A2B4-C2977CD9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Validation locale des contenus, de la sécurité et du protocole de consentement.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6FC57-E55E-4340-81A8-8BA90CD9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004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5A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19D56-AF53-4F9A-9A36-B13C2124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8DDA2-A3E3-45C5-BE9F-CED7C6D7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62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Piloter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AB1D4-A56B-4AE5-A27C-C88F6AF5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0125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Accompagner les facilitateurs, observer les usages et recueillir les retours.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A907A-BD07-4FF9-877F-30E0BF73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004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92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D4008-52EE-4D49-9F04-21179B31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69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6923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C2CD4-E74A-4445-BEFF-183DEB38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62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Décider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88213-99BD-4CB0-9B91-617EFE86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0125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Analyser les preuves, corriger le produit et choisir le passage à l’échelle.</a:t>
            </a:r>
          </a:p>
        </p:txBody>
      </p:sp>
    </p:spTree>
    <p:extLst>
      <p:ext uri="{BB962C8B-B14F-4D97-AF65-F5344CB8AC3E}">
        <p14:creationId xmlns:p14="http://schemas.microsoft.com/office/powerpoint/2010/main" val="1511335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0ACA3-13EB-4E3F-981F-99E37BBF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LA DEMANDE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B683F-A4DA-4ACD-AC5E-F50A6FD5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65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4EF36-6D8D-4E14-AA86-C0BC77F7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B8C7E-3901-4F57-A999-DEAD2640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09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Financer une preuve</a:t>
            </a:r>
          </a:p>
          <a:p xmlns:a="http://schemas.openxmlformats.org/drawingml/2006/main">
            <a:pPr>
              <a:defRPr sz="49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d’impact qui mérite</a:t>
            </a:r>
          </a:p>
          <a:p xmlns:a="http://schemas.openxmlformats.org/drawingml/2006/main">
            <a:pPr>
              <a:defRPr sz="49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d’être déployée.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2F696-E295-4BBA-88E1-D2241831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5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FA5A0-E939-4D03-98DB-798993FC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LE FINANCEMENT SERT 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27977-7D3D-4E7D-9586-FECF5EA8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885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1150F"/>
                </a:solidFill>
                <a:latin typeface="Helvetica Neue"/>
                <a:ea typeface="Helvetica Neue"/>
                <a:cs typeface="Helvetica Neue"/>
              </a:rPr>
              <a:t>Valider les contenus avec des experts locaux · mener un pilote encadré · mesurer sans trahir la confiance des familles.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825D4-558F-4D2D-91C9-ADB154F5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00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5A45"/>
                </a:solidFill>
                <a:latin typeface="Helvetica Neue"/>
                <a:ea typeface="Helvetica Neue"/>
                <a:cs typeface="Helvetica Neue"/>
              </a:rPr>
              <a:t>RACINES</a:t>
            </a:r>
          </a:p>
        </p:txBody>
      </p:sp>
    </p:spTree>
    <p:extLst>
      <p:ext uri="{BB962C8B-B14F-4D97-AF65-F5344CB8AC3E}">
        <p14:creationId xmlns:p14="http://schemas.microsoft.com/office/powerpoint/2010/main" val="506149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2026-08-24T13:26:06.8060000Z</dcterms:created>
  <dcterms:modified xsi:type="dcterms:W3CDTF">2026-08-24T13:26:06.8060000Z</dcterms:modified>
</coreProperties>
</file>